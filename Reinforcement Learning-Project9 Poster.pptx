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6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8495665" y="3464560"/>
            <a:ext cx="3626485" cy="3337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3547745" y="908685"/>
            <a:ext cx="4827270" cy="2179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8497825" y="890126"/>
            <a:ext cx="3626400" cy="2586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3515995" y="4985385"/>
            <a:ext cx="4882515" cy="1816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139700" y="903605"/>
            <a:ext cx="3303905" cy="58934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1275" y="15875"/>
            <a:ext cx="1210691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Inverse Learning from Gradient-Based Multi-Agent Learners (I-LOLA)</a:t>
            </a:r>
            <a:endParaRPr lang="en-US"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0640" y="411480"/>
            <a:ext cx="12080875" cy="292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Zhongjian Yu, Yutian Lei, Zhengxun Yin, Chengrui Gao, Maorong Lin</a:t>
            </a:r>
            <a:endParaRPr sz="12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13"/>
          <p:cNvCxnSpPr/>
          <p:nvPr/>
        </p:nvCxnSpPr>
        <p:spPr>
          <a:xfrm>
            <a:off x="96793" y="801397"/>
            <a:ext cx="12095207" cy="4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13"/>
          <p:cNvSpPr txBox="1"/>
          <p:nvPr/>
        </p:nvSpPr>
        <p:spPr>
          <a:xfrm>
            <a:off x="83774" y="881350"/>
            <a:ext cx="333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90204"/>
              <a:buNone/>
            </a:pPr>
            <a:r>
              <a:rPr lang="en-US" b="1">
                <a:solidFill>
                  <a:srgbClr val="7A1410"/>
                </a:solidFill>
                <a:latin typeface="Calibri"/>
                <a:ea typeface="Calibri"/>
                <a:cs typeface="Calibri"/>
                <a:sym typeface="Calibri"/>
              </a:rPr>
              <a:t>1. Motivation &amp; Problem</a:t>
            </a:r>
            <a:endParaRPr b="1">
              <a:solidFill>
                <a:srgbClr val="7A141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512636" y="865908"/>
            <a:ext cx="39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7A1410"/>
                </a:solidFill>
                <a:latin typeface="Calibri"/>
                <a:ea typeface="Calibri"/>
                <a:cs typeface="Calibri"/>
                <a:sym typeface="Calibri"/>
              </a:rPr>
              <a:t>4. Experimental Setup</a:t>
            </a:r>
            <a:endParaRPr lang="en-US" sz="1600" b="1">
              <a:solidFill>
                <a:srgbClr val="7A141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8520430" y="850900"/>
            <a:ext cx="3491230" cy="33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7A1410"/>
                </a:solidFill>
                <a:latin typeface="Calibri"/>
                <a:ea typeface="Calibri"/>
                <a:cs typeface="Calibri"/>
                <a:sym typeface="Calibri"/>
              </a:rPr>
              <a:t>5.2 Results — T2 MPE (PPO)</a:t>
            </a:r>
            <a:endParaRPr lang="en-US" sz="1600" b="1">
              <a:solidFill>
                <a:srgbClr val="7A141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3"/>
          <p:cNvCxnSpPr/>
          <p:nvPr/>
        </p:nvCxnSpPr>
        <p:spPr>
          <a:xfrm>
            <a:off x="3467100" y="887822"/>
            <a:ext cx="0" cy="591409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6" name="Google Shape;96;p13"/>
          <p:cNvCxnSpPr/>
          <p:nvPr/>
        </p:nvCxnSpPr>
        <p:spPr>
          <a:xfrm>
            <a:off x="8447594" y="887822"/>
            <a:ext cx="0" cy="591409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" name="Google Shape;97;p13"/>
          <p:cNvSpPr/>
          <p:nvPr/>
        </p:nvSpPr>
        <p:spPr>
          <a:xfrm>
            <a:off x="8526780" y="3094355"/>
            <a:ext cx="3611880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7A1410"/>
                </a:solidFill>
                <a:latin typeface="Calibri"/>
                <a:ea typeface="Calibri"/>
                <a:cs typeface="Calibri"/>
                <a:sym typeface="Calibri"/>
              </a:rPr>
              <a:t>5.3Results — T3 MultiWalker</a:t>
            </a:r>
            <a:endParaRPr lang="en-US" sz="1600" b="1">
              <a:solidFill>
                <a:srgbClr val="7A141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8533153" y="4590800"/>
            <a:ext cx="17574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800" b="1">
                <a:solidFill>
                  <a:schemeClr val="dk1"/>
                </a:solidFill>
              </a:rPr>
              <a:t>Figure 4:</a:t>
            </a:r>
            <a:r>
              <a:rPr lang="en-US" sz="800">
                <a:solidFill>
                  <a:schemeClr val="dk1"/>
                </a:solidFill>
              </a:rPr>
              <a:t> T3 KL (Monte Carlo)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Continuous-action, multi-agent physical environment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MA-LfL not applicable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I-LOLA remains numerically stable: Monte Carlo KL ≈ 5×10⁻⁴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0301200" y="4590895"/>
            <a:ext cx="1936500" cy="9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lang="en-US" sz="800" b="1">
                <a:solidFill>
                  <a:schemeClr val="dk1"/>
                </a:solidFill>
              </a:rPr>
              <a:t>Figure 5:</a:t>
            </a:r>
            <a:r>
              <a:rPr lang="en-US" sz="800">
                <a:solidFill>
                  <a:schemeClr val="dk1"/>
                </a:solidFill>
              </a:rPr>
              <a:t> T3 induced returns 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Induced policies achieve performance comparable to random baseline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recovered reward contains usable signal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Further optimization required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71255" y="1180595"/>
            <a:ext cx="3484500" cy="19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800" b="1">
                <a:solidFill>
                  <a:schemeClr val="dk1"/>
                </a:solidFill>
              </a:rPr>
              <a:t>Inverse Reinforcement Learning (IRL)</a:t>
            </a:r>
            <a:r>
              <a:rPr lang="en-US" sz="800">
                <a:solidFill>
                  <a:schemeClr val="dk1"/>
                </a:solidFill>
              </a:rPr>
              <a:t> aims to recover an underlying reward function from observed agent behavior.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Most existing </a:t>
            </a:r>
            <a:r>
              <a:rPr lang="en-US" sz="800" b="1">
                <a:solidFill>
                  <a:schemeClr val="dk1"/>
                </a:solidFill>
              </a:rPr>
              <a:t>multi-agent IRL</a:t>
            </a:r>
            <a:r>
              <a:rPr lang="en-US" sz="800">
                <a:solidFill>
                  <a:schemeClr val="dk1"/>
                </a:solidFill>
              </a:rPr>
              <a:t> methods assume agents follow </a:t>
            </a:r>
            <a:r>
              <a:rPr lang="en-US" sz="800" b="1">
                <a:solidFill>
                  <a:schemeClr val="dk1"/>
                </a:solidFill>
              </a:rPr>
              <a:t>Multi-Agent Soft Policy Iteration (MA-SPI)</a:t>
            </a:r>
            <a:r>
              <a:rPr lang="en-US" sz="800">
                <a:solidFill>
                  <a:schemeClr val="dk1"/>
                </a:solidFill>
              </a:rPr>
              <a:t>, which: 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        </a:t>
            </a:r>
            <a:r>
              <a:rPr lang="en-US" sz="800" b="1">
                <a:solidFill>
                  <a:schemeClr val="dk1"/>
                </a:solidFill>
              </a:rPr>
              <a:t>A.</a:t>
            </a:r>
            <a:r>
              <a:rPr lang="en-US" sz="800">
                <a:solidFill>
                  <a:schemeClr val="dk1"/>
                </a:solidFill>
              </a:rPr>
              <a:t>works well in small, discrete environments; 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        </a:t>
            </a:r>
            <a:r>
              <a:rPr lang="en-US" sz="800" b="1">
                <a:solidFill>
                  <a:schemeClr val="dk1"/>
                </a:solidFill>
              </a:rPr>
              <a:t>B.</a:t>
            </a:r>
            <a:r>
              <a:rPr lang="en-US" sz="800">
                <a:solidFill>
                  <a:schemeClr val="dk1"/>
                </a:solidFill>
              </a:rPr>
              <a:t>is incompatible with modern </a:t>
            </a:r>
            <a:r>
              <a:rPr lang="en-US" sz="800" b="1">
                <a:solidFill>
                  <a:schemeClr val="dk1"/>
                </a:solidFill>
              </a:rPr>
              <a:t>gradient-based learners</a:t>
            </a:r>
            <a:r>
              <a:rPr lang="en-US" sz="800">
                <a:solidFill>
                  <a:schemeClr val="dk1"/>
                </a:solidFill>
              </a:rPr>
              <a:t> (e.g.policy gradient &amp;PPO)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However, in realistic multi-agent systems: 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        </a:t>
            </a:r>
            <a:r>
              <a:rPr lang="en-US" sz="800" b="1">
                <a:solidFill>
                  <a:schemeClr val="dk1"/>
                </a:solidFill>
              </a:rPr>
              <a:t>A.</a:t>
            </a:r>
            <a:r>
              <a:rPr lang="en-US" sz="800">
                <a:solidFill>
                  <a:schemeClr val="dk1"/>
                </a:solidFill>
              </a:rPr>
              <a:t>agents are </a:t>
            </a:r>
            <a:r>
              <a:rPr lang="en-US" sz="800" i="1">
                <a:solidFill>
                  <a:schemeClr val="dk1"/>
                </a:solidFill>
              </a:rPr>
              <a:t>learning</a:t>
            </a:r>
            <a:r>
              <a:rPr lang="en-US" sz="800">
                <a:solidFill>
                  <a:schemeClr val="dk1"/>
                </a:solidFill>
              </a:rPr>
              <a:t>, not optimal; 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        </a:t>
            </a:r>
            <a:r>
              <a:rPr lang="en-US" sz="800" b="1">
                <a:solidFill>
                  <a:schemeClr val="dk1"/>
                </a:solidFill>
              </a:rPr>
              <a:t>B.</a:t>
            </a:r>
            <a:r>
              <a:rPr lang="en-US" sz="800">
                <a:solidFill>
                  <a:schemeClr val="dk1"/>
                </a:solidFill>
              </a:rPr>
              <a:t>policies evolve through gradient updates; 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        </a:t>
            </a:r>
            <a:r>
              <a:rPr lang="en-US" sz="800" b="1">
                <a:solidFill>
                  <a:schemeClr val="dk1"/>
                </a:solidFill>
              </a:rPr>
              <a:t>C.</a:t>
            </a:r>
            <a:r>
              <a:rPr lang="en-US" sz="800">
                <a:solidFill>
                  <a:schemeClr val="dk1"/>
                </a:solidFill>
              </a:rPr>
              <a:t>learning dynamics themselves contain reward information</a:t>
            </a:r>
            <a:br>
              <a:rPr lang="en-US" sz="7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💡</a:t>
            </a:r>
            <a:r>
              <a:rPr lang="en-US" sz="800" b="1">
                <a:solidFill>
                  <a:schemeClr val="dk1"/>
                </a:solidFill>
              </a:rPr>
              <a:t>Can we perform inverse learning directly from gradient-based multi-agent learners?</a:t>
            </a:r>
            <a:endParaRPr sz="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sz="200" b="1">
              <a:solidFill>
                <a:schemeClr val="dk1"/>
              </a:solidFill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3570375" y="1112775"/>
            <a:ext cx="4827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A1410"/>
                </a:solidFill>
                <a:latin typeface="Calibri"/>
                <a:ea typeface="Calibri"/>
                <a:cs typeface="Calibri"/>
                <a:sym typeface="Calibri"/>
              </a:rPr>
              <a:t>We evaluate across three increasingly realistic environments:</a:t>
            </a:r>
            <a:endParaRPr lang="en-US" sz="1200">
              <a:solidFill>
                <a:srgbClr val="7A141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22550" y="3193095"/>
            <a:ext cx="326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7A1410"/>
                </a:solidFill>
                <a:latin typeface="Calibri"/>
                <a:ea typeface="Calibri"/>
                <a:cs typeface="Calibri"/>
                <a:sym typeface="Calibri"/>
              </a:rPr>
              <a:t>2. Challenges</a:t>
            </a:r>
            <a:endParaRPr b="1">
              <a:solidFill>
                <a:srgbClr val="7A141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140330" y="4436430"/>
            <a:ext cx="328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7A1410"/>
                </a:solidFill>
                <a:latin typeface="Calibri"/>
                <a:ea typeface="Calibri"/>
                <a:cs typeface="Calibri"/>
                <a:sym typeface="Calibri"/>
              </a:rPr>
              <a:t>3. Method Overview</a:t>
            </a:r>
            <a:endParaRPr b="1">
              <a:solidFill>
                <a:srgbClr val="7A141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83820" y="4692015"/>
            <a:ext cx="3486785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We extend </a:t>
            </a:r>
            <a:r>
              <a:rPr lang="en-US" sz="800" b="1">
                <a:solidFill>
                  <a:schemeClr val="dk1"/>
                </a:solidFill>
              </a:rPr>
              <a:t>LOGEL</a:t>
            </a:r>
            <a:r>
              <a:rPr lang="en-US" sz="800">
                <a:solidFill>
                  <a:schemeClr val="dk1"/>
                </a:solidFill>
              </a:rPr>
              <a:t> (Inverse RL from a Gradient-Based Learner) to multi-agent settings by explicitly modeling </a:t>
            </a:r>
            <a:r>
              <a:rPr lang="en-US" sz="800" b="1">
                <a:solidFill>
                  <a:schemeClr val="dk1"/>
                </a:solidFill>
              </a:rPr>
              <a:t>learning interactions</a:t>
            </a:r>
            <a:r>
              <a:rPr lang="en-US" sz="800">
                <a:solidFill>
                  <a:schemeClr val="dk1"/>
                </a:solidFill>
              </a:rPr>
              <a:t>.</a:t>
            </a:r>
            <a:br>
              <a:rPr lang="en-US" sz="800">
                <a:solidFill>
                  <a:schemeClr val="dk1"/>
                </a:solidFill>
              </a:rPr>
            </a:br>
            <a:endParaRPr lang="en-US" sz="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Key ideas:</a:t>
            </a:r>
            <a:br>
              <a:rPr lang="en-US" sz="800" b="1">
                <a:solidFill>
                  <a:schemeClr val="dk1"/>
                </a:solidFill>
              </a:rPr>
            </a:br>
            <a:r>
              <a:rPr lang="en-US" sz="800" b="1">
                <a:solidFill>
                  <a:schemeClr val="dk1"/>
                </a:solidFill>
              </a:rPr>
              <a:t>	</a:t>
            </a:r>
            <a:r>
              <a:rPr lang="en-US" sz="800">
                <a:solidFill>
                  <a:schemeClr val="dk1"/>
                </a:solidFill>
              </a:rPr>
              <a:t>Treat agents as </a:t>
            </a:r>
            <a:r>
              <a:rPr lang="en-US" sz="800" b="1">
                <a:solidFill>
                  <a:schemeClr val="dk1"/>
                </a:solidFill>
              </a:rPr>
              <a:t>learners</a:t>
            </a:r>
            <a:r>
              <a:rPr lang="en-US" sz="800">
                <a:solidFill>
                  <a:schemeClr val="dk1"/>
                </a:solidFill>
              </a:rPr>
              <a:t>, not equilibria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	Infer rewards from </a:t>
            </a:r>
            <a:r>
              <a:rPr lang="en-US" sz="800" b="1">
                <a:solidFill>
                  <a:schemeClr val="dk1"/>
                </a:solidFill>
              </a:rPr>
              <a:t>policy updates</a:t>
            </a:r>
            <a:r>
              <a:rPr lang="en-US" sz="800">
                <a:solidFill>
                  <a:schemeClr val="dk1"/>
                </a:solidFill>
              </a:rPr>
              <a:t>, not final </a:t>
            </a:r>
            <a:r>
              <a:rPr lang="en-US" sz="800">
                <a:solidFill>
                  <a:schemeClr val="dk1"/>
                </a:solidFill>
                <a:sym typeface="+mn-ea"/>
              </a:rPr>
              <a:t>policies</a:t>
            </a:r>
            <a:br>
              <a:rPr lang="en-US" sz="800">
                <a:solidFill>
                  <a:schemeClr val="dk1"/>
                </a:solidFill>
                <a:sym typeface="+mn-ea"/>
              </a:rPr>
            </a:br>
            <a:r>
              <a:rPr lang="en-US" sz="800">
                <a:solidFill>
                  <a:schemeClr val="dk1"/>
                </a:solidFill>
              </a:rPr>
              <a:t>   	Model opponent learning via </a:t>
            </a:r>
            <a:r>
              <a:rPr lang="en-US" sz="800" b="1">
                <a:solidFill>
                  <a:schemeClr val="dk1"/>
                </a:solidFill>
              </a:rPr>
              <a:t>LOLA</a:t>
            </a:r>
            <a:br>
              <a:rPr lang="en-US" sz="800" b="1">
                <a:solidFill>
                  <a:schemeClr val="dk1"/>
                </a:solidFill>
              </a:rPr>
            </a:br>
            <a:r>
              <a:rPr lang="en-US" sz="800" b="1">
                <a:solidFill>
                  <a:schemeClr val="dk1"/>
                </a:solidFill>
              </a:rPr>
              <a:t>Two stages:</a:t>
            </a:r>
            <a:br>
              <a:rPr lang="en-US" sz="800" b="1">
                <a:solidFill>
                  <a:schemeClr val="dk1"/>
                </a:solidFill>
              </a:rPr>
            </a:br>
            <a:r>
              <a:rPr lang="en-US" sz="800" b="1">
                <a:solidFill>
                  <a:schemeClr val="dk1"/>
                </a:solidFill>
              </a:rPr>
              <a:t>	Stage A (I-LOGEL):</a:t>
            </a:r>
            <a:r>
              <a:rPr lang="en-US" sz="800">
                <a:solidFill>
                  <a:schemeClr val="dk1"/>
                </a:solidFill>
              </a:rPr>
              <a:t> independent learners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	</a:t>
            </a:r>
            <a:r>
              <a:rPr lang="en-US" sz="800" b="1">
                <a:solidFill>
                  <a:schemeClr val="dk1"/>
                </a:solidFill>
              </a:rPr>
              <a:t>Stage B (I-LOLA):</a:t>
            </a:r>
            <a:r>
              <a:rPr lang="en-US" sz="800">
                <a:solidFill>
                  <a:schemeClr val="dk1"/>
                </a:solidFill>
              </a:rPr>
              <a:t> coupled learning dynamics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Optimization uses </a:t>
            </a:r>
            <a:r>
              <a:rPr lang="en-US" sz="800" b="1">
                <a:solidFill>
                  <a:schemeClr val="dk1"/>
                </a:solidFill>
              </a:rPr>
              <a:t>black-box CMA-ES</a:t>
            </a:r>
            <a:r>
              <a:rPr lang="en-US" sz="800">
                <a:solidFill>
                  <a:schemeClr val="dk1"/>
                </a:solidFill>
              </a:rPr>
              <a:t>, avoiding second-order gradients.</a:t>
            </a:r>
            <a:endParaRPr sz="500"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3555547" y="2422681"/>
            <a:ext cx="5031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800" b="1">
                <a:solidFill>
                  <a:schemeClr val="dk1"/>
                </a:solidFill>
              </a:rPr>
              <a:t>Metrics:</a:t>
            </a:r>
            <a:br>
              <a:rPr lang="en-US" sz="800" b="1">
                <a:solidFill>
                  <a:schemeClr val="dk1"/>
                </a:solidFill>
              </a:rPr>
            </a:br>
            <a:r>
              <a:rPr lang="en-US" sz="800" b="1">
                <a:solidFill>
                  <a:schemeClr val="dk1"/>
                </a:solidFill>
              </a:rPr>
              <a:t>	KL(1a):</a:t>
            </a:r>
            <a:r>
              <a:rPr lang="en-US" sz="800">
                <a:solidFill>
                  <a:schemeClr val="dk1"/>
                </a:solidFill>
              </a:rPr>
              <a:t> prediction error using true reward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	</a:t>
            </a:r>
            <a:r>
              <a:rPr lang="en-US" sz="800" b="1">
                <a:solidFill>
                  <a:schemeClr val="dk1"/>
                </a:solidFill>
              </a:rPr>
              <a:t>KL(1b):</a:t>
            </a:r>
            <a:r>
              <a:rPr lang="en-US" sz="800">
                <a:solidFill>
                  <a:schemeClr val="dk1"/>
                </a:solidFill>
              </a:rPr>
              <a:t> prediction error using recovered reward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	</a:t>
            </a:r>
            <a:r>
              <a:rPr lang="en-US" sz="800" b="1">
                <a:solidFill>
                  <a:schemeClr val="dk1"/>
                </a:solidFill>
              </a:rPr>
              <a:t>Induced return:</a:t>
            </a:r>
            <a:r>
              <a:rPr lang="en-US" sz="800">
                <a:solidFill>
                  <a:schemeClr val="dk1"/>
                </a:solidFill>
              </a:rPr>
              <a:t> usefulness of recovered reward</a:t>
            </a: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/>
          </a:p>
        </p:txBody>
      </p:sp>
      <p:pic>
        <p:nvPicPr>
          <p:cNvPr id="108" name="Google Shape;108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542650" y="3152925"/>
            <a:ext cx="2058701" cy="179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911500" y="3152925"/>
            <a:ext cx="2466900" cy="179747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/>
        </p:nvSpPr>
        <p:spPr>
          <a:xfrm>
            <a:off x="3490305" y="5756025"/>
            <a:ext cx="2466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800" b="1">
                <a:solidFill>
                  <a:schemeClr val="dk1"/>
                </a:solidFill>
              </a:rPr>
              <a:t>M</a:t>
            </a:r>
            <a:endParaRPr sz="800"/>
          </a:p>
        </p:txBody>
      </p:sp>
      <p:sp>
        <p:nvSpPr>
          <p:cNvPr id="111" name="Google Shape;111;p13"/>
          <p:cNvSpPr/>
          <p:nvPr/>
        </p:nvSpPr>
        <p:spPr>
          <a:xfrm>
            <a:off x="3515995" y="5024755"/>
            <a:ext cx="4882515" cy="14103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3512625" y="4950400"/>
            <a:ext cx="2466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 b="1">
                <a:solidFill>
                  <a:schemeClr val="dk1"/>
                </a:solidFill>
              </a:rPr>
              <a:t>Figure 1:</a:t>
            </a:r>
            <a:r>
              <a:rPr lang="en-US" sz="1100">
                <a:solidFill>
                  <a:schemeClr val="dk1"/>
                </a:solidFill>
              </a:rPr>
              <a:t> T1 KL comparison</a:t>
            </a:r>
            <a:endParaRPr sz="800"/>
          </a:p>
        </p:txBody>
      </p:sp>
      <p:sp>
        <p:nvSpPr>
          <p:cNvPr id="113" name="Google Shape;113;p13"/>
          <p:cNvSpPr txBox="1"/>
          <p:nvPr/>
        </p:nvSpPr>
        <p:spPr>
          <a:xfrm>
            <a:off x="5932592" y="4967313"/>
            <a:ext cx="2466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 b="1">
                <a:solidFill>
                  <a:schemeClr val="dk1"/>
                </a:solidFill>
              </a:rPr>
              <a:t>Figure 2:</a:t>
            </a:r>
            <a:r>
              <a:rPr lang="en-US" sz="1100">
                <a:solidFill>
                  <a:schemeClr val="dk1"/>
                </a:solidFill>
              </a:rPr>
              <a:t> T1 reward heatmap </a:t>
            </a:r>
            <a:endParaRPr sz="800"/>
          </a:p>
        </p:txBody>
      </p:sp>
      <p:sp>
        <p:nvSpPr>
          <p:cNvPr id="114" name="Google Shape;114;p13"/>
          <p:cNvSpPr txBox="1"/>
          <p:nvPr/>
        </p:nvSpPr>
        <p:spPr>
          <a:xfrm>
            <a:off x="3515995" y="5723890"/>
            <a:ext cx="4882515" cy="98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79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800">
                <a:solidFill>
                  <a:schemeClr val="dk1"/>
                </a:solidFill>
              </a:rPr>
              <a:t>KL(1a) ≈ KL(1b) ≈ 9×10⁻</a:t>
            </a:r>
            <a:r>
              <a:rPr lang="en-US" sz="800">
                <a:solidFill>
                  <a:schemeClr val="dk1"/>
                </a:solidFill>
              </a:rPr>
              <a:t>⁶</a:t>
            </a:r>
            <a:endParaRPr sz="800">
              <a:solidFill>
                <a:schemeClr val="dk1"/>
              </a:solidFill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800">
                <a:solidFill>
                  <a:schemeClr val="dk1"/>
                </a:solidFill>
              </a:rPr>
              <a:t>MA-LfL accurately predicts policy updates</a:t>
            </a:r>
            <a:endParaRPr sz="800">
              <a:solidFill>
                <a:schemeClr val="dk1"/>
              </a:solidFill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800">
                <a:solidFill>
                  <a:schemeClr val="dk1"/>
                </a:solidFill>
              </a:rPr>
              <a:t>Recovered reward differs numerically but induces identical behavior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 b="1">
                <a:solidFill>
                  <a:schemeClr val="dk1"/>
                </a:solidFill>
              </a:rPr>
              <a:t>Interpretation:</a:t>
            </a:r>
            <a:br>
              <a:rPr lang="en-US" sz="800" b="1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MA-LfL works well when its assumptions hold.</a:t>
            </a: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3514725" y="5339080"/>
            <a:ext cx="2868930" cy="384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7A1410"/>
                </a:solidFill>
                <a:latin typeface="Calibri"/>
                <a:ea typeface="Calibri"/>
                <a:cs typeface="Calibri"/>
                <a:sym typeface="Calibri"/>
              </a:rPr>
              <a:t>5.1 Results — T1 GridWorld</a:t>
            </a:r>
            <a:endParaRPr lang="en-US" sz="1600" b="1">
              <a:solidFill>
                <a:srgbClr val="7A141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8444865" y="1127125"/>
            <a:ext cx="1549400" cy="1922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Learners trained with PPO (violating MA-SPI assumptions)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I-LOLA achieves: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KL(1a) ≈ 1.03×10⁻⁶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KL(1b) ≈ 1.09×10⁻⁶</a:t>
            </a:r>
            <a:endParaRPr lang="en-US" sz="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Key result:</a:t>
            </a:r>
            <a:br>
              <a:rPr lang="en-US" sz="800" b="1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 Recovered rewards predict future policy updates almost as accurately as true rewards.</a:t>
            </a: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sz="800" b="1">
              <a:solidFill>
                <a:schemeClr val="dk1"/>
              </a:solidFill>
            </a:endParaRPr>
          </a:p>
        </p:txBody>
      </p:sp>
      <p:pic>
        <p:nvPicPr>
          <p:cNvPr id="117" name="Google Shape;117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0094595" y="1166495"/>
            <a:ext cx="1936750" cy="178498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3"/>
          <p:cNvSpPr txBox="1"/>
          <p:nvPr/>
        </p:nvSpPr>
        <p:spPr>
          <a:xfrm>
            <a:off x="10272140" y="2961665"/>
            <a:ext cx="1936500" cy="231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800" b="1">
                <a:solidFill>
                  <a:schemeClr val="dk1"/>
                </a:solidFill>
              </a:rPr>
              <a:t>Figure 3:</a:t>
            </a:r>
            <a:r>
              <a:rPr lang="en-US" sz="800">
                <a:solidFill>
                  <a:schemeClr val="dk1"/>
                </a:solidFill>
              </a:rPr>
              <a:t> </a:t>
            </a:r>
            <a:r>
              <a:rPr lang="en-US" sz="800">
                <a:solidFill>
                  <a:schemeClr val="dk1"/>
                </a:solidFill>
              </a:rPr>
              <a:t>T2 PPO KL</a:t>
            </a:r>
            <a:r>
              <a:rPr lang="en-US" sz="800">
                <a:solidFill>
                  <a:schemeClr val="dk1"/>
                </a:solidFill>
              </a:rPr>
              <a:t> comparison </a:t>
            </a:r>
            <a:endParaRPr sz="800"/>
          </a:p>
        </p:txBody>
      </p:sp>
      <p:pic>
        <p:nvPicPr>
          <p:cNvPr id="119" name="Google Shape;119;p13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616315" y="3494405"/>
            <a:ext cx="1551940" cy="1062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0344150" y="3485515"/>
            <a:ext cx="1594485" cy="10731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121" name="Google Shape;121;p13"/>
          <p:cNvSpPr/>
          <p:nvPr/>
        </p:nvSpPr>
        <p:spPr>
          <a:xfrm>
            <a:off x="8496300" y="5379085"/>
            <a:ext cx="3570605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7A1410"/>
                </a:solidFill>
                <a:latin typeface="Calibri"/>
                <a:ea typeface="Calibri"/>
                <a:cs typeface="Calibri"/>
                <a:sym typeface="Calibri"/>
              </a:rPr>
              <a:t>6. Takeaways &amp; Limitations</a:t>
            </a:r>
            <a:endParaRPr sz="1600"/>
          </a:p>
        </p:txBody>
      </p:sp>
      <p:sp>
        <p:nvSpPr>
          <p:cNvPr id="122" name="Google Shape;122;p13"/>
          <p:cNvSpPr txBox="1"/>
          <p:nvPr/>
        </p:nvSpPr>
        <p:spPr>
          <a:xfrm>
            <a:off x="8540475" y="5702675"/>
            <a:ext cx="17574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800" b="1">
                <a:solidFill>
                  <a:schemeClr val="dk1"/>
                </a:solidFill>
              </a:rPr>
              <a:t>Takeaways:</a:t>
            </a:r>
            <a:br>
              <a:rPr lang="en-US" sz="800" b="1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MA-LfL works when assumptions hold (T1)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I-LOLA remains accurate under PPO learners (T2)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Inverse learning is feasible in continuous control (T3)</a:t>
            </a:r>
            <a:br>
              <a:rPr lang="en-US" sz="800">
                <a:solidFill>
                  <a:schemeClr val="dk1"/>
                </a:solidFill>
              </a:rPr>
            </a:br>
            <a:endParaRPr sz="800" b="1">
              <a:solidFill>
                <a:schemeClr val="dk1"/>
              </a:solidFill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10317575" y="5702675"/>
            <a:ext cx="18306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800" b="1">
                <a:solidFill>
                  <a:schemeClr val="dk1"/>
                </a:solidFill>
              </a:rPr>
              <a:t>Limitations</a:t>
            </a:r>
            <a:br>
              <a:rPr lang="en-US" sz="800" b="1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Single-seed experiments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No MA-LfL baseline in T2/T3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Induced performance not yet expert-level</a:t>
            </a: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br>
              <a:rPr lang="en-US" sz="800">
                <a:solidFill>
                  <a:schemeClr val="dk1"/>
                </a:solidFill>
              </a:rPr>
            </a:br>
            <a:endParaRPr sz="800" b="1">
              <a:solidFill>
                <a:schemeClr val="dk1"/>
              </a:solidFill>
            </a:endParaRPr>
          </a:p>
        </p:txBody>
      </p:sp>
      <p:sp>
        <p:nvSpPr>
          <p:cNvPr id="1" name="Google Shape;100;p13"/>
          <p:cNvSpPr/>
          <p:nvPr/>
        </p:nvSpPr>
        <p:spPr>
          <a:xfrm>
            <a:off x="119375" y="3536610"/>
            <a:ext cx="3178500" cy="9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457200" lvl="0" indent="-279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800" b="1">
                <a:solidFill>
                  <a:schemeClr val="dk1"/>
                </a:solidFill>
              </a:rPr>
              <a:t>Model mismatch:</a:t>
            </a:r>
            <a:r>
              <a:rPr lang="en-US" sz="800">
                <a:solidFill>
                  <a:schemeClr val="dk1"/>
                </a:solidFill>
              </a:rPr>
              <a:t> MA-SPI assumptions vs PPO learners</a:t>
            </a:r>
            <a:endParaRPr sz="800">
              <a:solidFill>
                <a:schemeClr val="dk1"/>
              </a:solidFill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800" b="1">
                <a:solidFill>
                  <a:schemeClr val="dk1"/>
                </a:solidFill>
              </a:rPr>
              <a:t>Coupled learning:</a:t>
            </a:r>
            <a:r>
              <a:rPr lang="en-US" sz="800">
                <a:solidFill>
                  <a:schemeClr val="dk1"/>
                </a:solidFill>
              </a:rPr>
              <a:t> agents adapt while anticipating others</a:t>
            </a:r>
            <a:endParaRPr sz="800">
              <a:solidFill>
                <a:schemeClr val="dk1"/>
              </a:solidFill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800" b="1">
                <a:solidFill>
                  <a:schemeClr val="dk1"/>
                </a:solidFill>
              </a:rPr>
              <a:t>Reward ambiguity:</a:t>
            </a:r>
            <a:r>
              <a:rPr lang="en-US" sz="800">
                <a:solidFill>
                  <a:schemeClr val="dk1"/>
                </a:solidFill>
              </a:rPr>
              <a:t> different rewards may induce identical behavior</a:t>
            </a:r>
            <a:br>
              <a:rPr lang="en-US" sz="800">
                <a:solidFill>
                  <a:schemeClr val="dk1"/>
                </a:solidFill>
              </a:rPr>
            </a:br>
            <a:endParaRPr sz="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图片 6" descr="截屏2025-12-15 15.53.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1585" y="1484630"/>
            <a:ext cx="4305300" cy="847725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8562975" y="5721985"/>
            <a:ext cx="1727835" cy="1080135"/>
          </a:xfrm>
          <a:prstGeom prst="roundRect">
            <a:avLst/>
          </a:prstGeom>
          <a:noFill/>
          <a:ln w="12700"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0344150" y="5717540"/>
            <a:ext cx="1727835" cy="1080135"/>
          </a:xfrm>
          <a:prstGeom prst="roundRect">
            <a:avLst/>
          </a:prstGeom>
          <a:noFill/>
          <a:ln w="12700"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2876</Words>
  <Application>WPS 文字</Application>
  <PresentationFormat/>
  <Paragraphs>68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Arial</vt:lpstr>
      <vt:lpstr>Calibri</vt:lpstr>
      <vt:lpstr>Helvetica Neue</vt:lpstr>
      <vt:lpstr>Apple Color Emoji</vt:lpstr>
      <vt:lpstr>Arial Unicode MS</vt:lpstr>
      <vt:lpstr>宋体-简</vt:lpstr>
      <vt:lpstr>微软雅黑</vt:lpstr>
      <vt:lpstr>汉仪旗黑</vt:lpstr>
      <vt:lpstr>宋体</vt:lpstr>
      <vt:lpstr>汉仪书宋二KW</vt:lpstr>
      <vt:lpstr>宋体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大睿睿</cp:lastModifiedBy>
  <cp:revision>3</cp:revision>
  <dcterms:created xsi:type="dcterms:W3CDTF">2025-12-15T15:13:00Z</dcterms:created>
  <dcterms:modified xsi:type="dcterms:W3CDTF">2025-12-15T15:13:00Z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0F81AD9C767B57577C2540695EBBD592_43</vt:lpwstr>
  </property>
  <property fmtid="{D5CDD505-2E9C-101B-9397-08002B2CF9AE}" pid="3" name="KSOProductBuildVer">
    <vt:lpwstr>2052-12.1.22553.22553</vt:lpwstr>
  </property>
</Properties>
</file>